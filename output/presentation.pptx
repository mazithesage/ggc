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Regime-Aware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Reversion Strategy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Crypto Spot Trading System  |  BTC  ETH  SOL  BNB  XRP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2004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Period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Crypto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vs V3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Versions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2021 – March 2026  |  $100K Initial Capital  |  Long-Only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Full-Pipeline Quantitative Research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exploration through statistically validated trading signals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65960" cy="2834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distributions, correlation structure, regime detection, tail risk, PCA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691640"/>
            <a:ext cx="1965960" cy="2834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7432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OU-process regime scoring, Z-score entries, RSI confirmation, trend filter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1965960" cy="2834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920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7432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engine, multi-layer entries, correlation-aware sizing, circuit breakers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691640"/>
            <a:ext cx="1965960" cy="2834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27432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OOS testing, bootstrap Sharpe CIs, regime dependence tests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pandas, numpy, scipy, statsmodels, matplotlib, seaborn, sklearn  |  Custom event-driven backtester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Understanding: 5-Year Price Evolution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assets normalized to base 100 on log scale — reveals relative performance across different price magnitudes</a:t>
            </a:r>
            <a:endParaRPr lang="en-US" sz="1100" dirty="0"/>
          </a:p>
        </p:txBody>
      </p:sp>
      <p:pic>
        <p:nvPicPr>
          <p:cNvPr id="6" name="Image 0" descr="/Users/mac/Documents/GitHub/ggc/output/eda/02_price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177" y="1600200"/>
            <a:ext cx="6893646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Yahoo Finance OHLCV daily bars  |  Period: March 2021 – March 2026  |  Cached locally for reproducibility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Properties &amp; Distributional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tails and non-normality justify ATR-based position sizing over fixed percentage models</a:t>
            </a:r>
            <a:endParaRPr lang="en-US" sz="1100" dirty="0"/>
          </a:p>
        </p:txBody>
      </p:sp>
      <p:pic>
        <p:nvPicPr>
          <p:cNvPr id="6" name="Image 0" descr="/Users/mac/Documents/GitHub/ggc/output/eda/01_summary_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9649" y="1554480"/>
            <a:ext cx="5964702" cy="1463040"/>
          </a:xfrm>
          <a:prstGeom prst="rect">
            <a:avLst/>
          </a:prstGeom>
        </p:spPr>
      </p:pic>
      <p:pic>
        <p:nvPicPr>
          <p:cNvPr id="7" name="Image 1" descr="/Users/mac/Documents/GitHub/ggc/output/eda/03_return_histogr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20" y="3200400"/>
            <a:ext cx="7496160" cy="1554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assets reject normality at p &lt; 0.001 (Jarque-Bera, Shapiro-Wilk)  |  Excess kurtosis confirms heavy tails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Clustering &amp; Correlation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 regimes + unstable correlations motivate adaptive regime detection and cluster-capping</a:t>
            </a:r>
            <a:endParaRPr lang="en-US" sz="1100" dirty="0"/>
          </a:p>
        </p:txBody>
      </p:sp>
      <p:pic>
        <p:nvPicPr>
          <p:cNvPr id="6" name="Image 0" descr="/Users/mac/Documents/GitHub/ggc/output/eda/05_rolling_vola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3985389" cy="1691640"/>
          </a:xfrm>
          <a:prstGeom prst="rect">
            <a:avLst/>
          </a:prstGeom>
        </p:spPr>
      </p:pic>
      <p:pic>
        <p:nvPicPr>
          <p:cNvPr id="7" name="Image 1" descr="/Users/mac/Documents/GitHub/ggc/output/eda/07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1915281" cy="1691640"/>
          </a:xfrm>
          <a:prstGeom prst="rect">
            <a:avLst/>
          </a:prstGeom>
        </p:spPr>
      </p:pic>
      <p:pic>
        <p:nvPicPr>
          <p:cNvPr id="8" name="Image 2" descr="/Users/mac/Documents/GitHub/ggc/output/eda/06_squared_returns_ac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346" y="3474720"/>
            <a:ext cx="6173308" cy="1280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ACF in r² confirms GARCH-like clustering  |  BTC-ETH correlation fluctuates 0.5–0.95  |  Cluster threshold: ρ ≥ 0.90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Regimes &amp; Factor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explains ~75%+ of variance — a single crypto market factor dominates, limiting diversification</a:t>
            </a:r>
            <a:endParaRPr lang="en-US" sz="1100" dirty="0"/>
          </a:p>
        </p:txBody>
      </p:sp>
      <p:pic>
        <p:nvPicPr>
          <p:cNvPr id="6" name="Image 0" descr="/Users/mac/Documents/GitHub/ggc/output/eda/10_regim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4206240" cy="2995811"/>
          </a:xfrm>
          <a:prstGeom prst="rect">
            <a:avLst/>
          </a:prstGeom>
        </p:spPr>
      </p:pic>
      <p:pic>
        <p:nvPicPr>
          <p:cNvPr id="7" name="Image 1" descr="/Users/mac/Documents/GitHub/ggc/output/eda/09_pca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3664131" cy="1508760"/>
          </a:xfrm>
          <a:prstGeom prst="rect">
            <a:avLst/>
          </a:prstGeom>
        </p:spPr>
      </p:pic>
      <p:pic>
        <p:nvPicPr>
          <p:cNvPr id="8" name="Image 2" descr="/Users/mac/Documents/GitHub/ggc/output/eda/11_tail_ri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91840"/>
            <a:ext cx="3554536" cy="1508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detection: rolling 60-day return + 30-day volatility  |  VaR/CVaR at 95% and 99% confidence levels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Architecture: V3 Multi-Layer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Ornstein-Uhlenbeck regime scoring × Z-score mean reversion × correlation clustering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9748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3017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Generation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(ln(P) − EMA) / σ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entry levels: Z=1.8, 2.0, 2.5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confirmation on weak signals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200-day EMA trend filter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ATR-based stop-loss (2.8×)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69748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00200"/>
            <a:ext cx="54864" cy="3017520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AR(1) → OU calibration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−ln(1+b), T½ = ln2/θ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0.4×halflife + 0.3×R² + 0.3×pval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sizing: 0.15× → 1.4×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floor at score &lt; 0.1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54864" cy="30175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 position sizing: risk/ATR×k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18% per layer, 38% total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breaker: −50% at 15% DD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cluster cap: 35%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15 concurrent positions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improvements over V2: continuous regime scaling (vs binary), multi-layer entries, correlation-aware allocation, RSI confirmation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&amp; After: V2 vs V3 Equity Curves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(blue) achieves higher returns with better capital utilization — walk-forward OOS in gold</a:t>
            </a:r>
            <a:endParaRPr lang="en-US" sz="1100" dirty="0"/>
          </a:p>
        </p:txBody>
      </p:sp>
      <p:pic>
        <p:nvPicPr>
          <p:cNvPr id="6" name="Image 0" descr="/Users/mac/Documents/GitHub/ggc/output/v2_vs_v3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4783" y="1508760"/>
            <a:ext cx="3954434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V2 baseline (single entry, binary regime)  |  Blue = V3 (multi-layer, continuous regime, correlation-aware)  |  Gold = Walk-forward OOS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Distribution &amp; Capital Utilization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generates significantly more trades across all assets with tighter holding periods</a:t>
            </a:r>
            <a:endParaRPr lang="en-US" sz="1100" dirty="0"/>
          </a:p>
        </p:txBody>
      </p:sp>
      <p:pic>
        <p:nvPicPr>
          <p:cNvPr id="6" name="Image 0" descr="/Users/mac/Documents/GitHub/ggc/output/trad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554480"/>
            <a:ext cx="4501305" cy="3200400"/>
          </a:xfrm>
          <a:prstGeom prst="rect">
            <a:avLst/>
          </a:prstGeom>
        </p:spPr>
      </p:pic>
      <p:pic>
        <p:nvPicPr>
          <p:cNvPr id="7" name="Image 1" descr="/Users/mac/Documents/GitHub/ggc/output/exposure_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4114800" cy="2333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multi-layer system: trades per asset, return distribution, holding period, PnL by entry layer  |  Exposure target: 30%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BTC-USD: Price, Z-Score, Regime &amp; RSI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Four-panel signal decomposition showing exactly when and why the strategy trades</a:t>
            </a:r>
            <a:endParaRPr lang="en-US" sz="1100" dirty="0"/>
          </a:p>
        </p:txBody>
      </p:sp>
      <p:pic>
        <p:nvPicPr>
          <p:cNvPr id="6" name="Image 0" descr="/Users/mac/Documents/GitHub/ggc/output/v3_detail_BTC_U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3384904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1: Price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arrows show entry → exit. Green = profit, red = loss. Visual confirmation of mean-reversion behavior.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2: Z-Score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thresholds at Z = 1.8, 2.0, 2.5. Entries fire when price deviates significantly from rolling EMA.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0352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3: Regime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0" y="3474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OU-calibrated score. Positions scale continuously with regime quality. Red dashed line = hard floor (0.1).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0352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4: RSI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confirmation for weak (Layer 0) signals only. Oversold &lt; 40 required for long entries.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4-panel analysis generated for all 5 assets: BTC, ETH, SOL, BNB, XRP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Validation &amp; Parameter Sensitivity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Sharpe ratios by fold + robustness across Z-threshold and window parameter space</a:t>
            </a:r>
            <a:endParaRPr lang="en-US" sz="1100" dirty="0"/>
          </a:p>
        </p:txBody>
      </p:sp>
      <p:pic>
        <p:nvPicPr>
          <p:cNvPr id="6" name="Image 0" descr="/Users/mac/Documents/GitHub/ggc/output/v3_wf_fold_shar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00200"/>
            <a:ext cx="4206240" cy="2074776"/>
          </a:xfrm>
          <a:prstGeom prst="rect">
            <a:avLst/>
          </a:prstGeom>
        </p:spPr>
      </p:pic>
      <p:pic>
        <p:nvPicPr>
          <p:cNvPr id="7" name="Image 1" descr="/Users/mac/Documents/GitHub/ggc/output/sensitivity_sharpe_rat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00200"/>
            <a:ext cx="4206240" cy="26941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Walk-forward: 252d train / 126d test, stepping 126d  |  Grid search: Z ∈ {1.5, 1.8, 2.0, 2.5}, window ∈ {20, 30, 40, 50, 60}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&amp; Regime Dependence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confidence intervals on Sharpe ratios + hypothesis test on regime score predictive power</a:t>
            </a:r>
            <a:endParaRPr lang="en-US" sz="1100" dirty="0"/>
          </a:p>
        </p:txBody>
      </p:sp>
      <p:pic>
        <p:nvPicPr>
          <p:cNvPr id="6" name="Image 0" descr="/Users/mac/Documents/GitHub/ggc/output/eda/stat_02_sharpe_boots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00200"/>
            <a:ext cx="4114800" cy="1683485"/>
          </a:xfrm>
          <a:prstGeom prst="rect">
            <a:avLst/>
          </a:prstGeom>
        </p:spPr>
      </p:pic>
      <p:pic>
        <p:nvPicPr>
          <p:cNvPr id="7" name="Image 1" descr="/Users/mac/Documents/GitHub/ggc/output/eda/stat_03_regime_depen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0200"/>
            <a:ext cx="2962354" cy="1828800"/>
          </a:xfrm>
          <a:prstGeom prst="rect">
            <a:avLst/>
          </a:prstGeom>
        </p:spPr>
      </p:pic>
      <p:pic>
        <p:nvPicPr>
          <p:cNvPr id="8" name="Image 2" descr="/Users/mac/Documents/GitHub/ggc/output/eda/stat_04_v2_v3_di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933" y="3566160"/>
            <a:ext cx="2744133" cy="1554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Bootstrap: 10,000 resamples  |  Regime split: Mann-Whitney U + Welch’s t-test  |  V2 vs V3: paired t-test + Wilcoxon signed-rank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5661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13716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complete research workflow: data ingestion → EDA → signal engineering → backtesting → walk-forward validation → statistical testing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5661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54864" cy="13716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Validated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Sharpe CIs, regime dependence tests, Ljung-Box serial correlation checks, paired V2/V3 significance tests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5661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26080"/>
            <a:ext cx="54864" cy="1371600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OOS confirms out-of-sample predictive power; sensitivity heatmaps show stability across parameter space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5661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26080"/>
            <a:ext cx="54864" cy="13716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codebase, interactive Plotly dashboard, frozen dataclass configs, event-driven backtest engine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32004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— Full source code, interactive dashboard, and detailed documentation available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Regime-Aware Mean Reversion — Crypto Spot Markets</dc:title>
  <dc:subject>PptxGenJS Presentation</dc:subject>
  <dc:creator>Quantitative Strategy Research</dc:creator>
  <cp:lastModifiedBy>Quantitative Strategy Research</cp:lastModifiedBy>
  <cp:revision>1</cp:revision>
  <dcterms:created xsi:type="dcterms:W3CDTF">2026-03-28T08:21:49Z</dcterms:created>
  <dcterms:modified xsi:type="dcterms:W3CDTF">2026-03-28T08:21:49Z</dcterms:modified>
</cp:coreProperties>
</file>